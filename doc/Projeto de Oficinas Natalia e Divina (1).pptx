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6858000" cy="9144000"/>
  <p:embeddedFontLst>
    <p:embeddedFont>
      <p:font typeface="Libre Baskerville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8C6E2D-245E-420E-96C5-815A2A362CF0}">
  <a:tblStyle styleId="{128C6E2D-245E-420E-96C5-815A2A362CF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ibreBaskerville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ibreBaskerville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ibreBaskerville-boldItalic.fntdata"/><Relationship Id="rId30" Type="http://schemas.openxmlformats.org/officeDocument/2006/relationships/font" Target="fonts/LibreBaskerville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on left, two objects on right" type="txAndTwoObj">
  <p:cSld name="TEX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 txBox="1"/>
          <p:nvPr/>
        </p:nvSpPr>
        <p:spPr>
          <a:xfrm>
            <a:off x="4806950" y="5683250"/>
            <a:ext cx="433705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DIVINA Mª FERREIRA SOUZA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NATALIA DUARTE BATISTA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ORIENTADOR: EDILSON PIMENTA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Baskerville"/>
              <a:buNone/>
            </a:pPr>
            <a:r>
              <a:rPr b="0" i="0" lang="en-US" sz="5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Serviços</a:t>
            </a: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Reciclar vidros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Arrecadação dos  vidros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Limpeza 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Moer e separá-lo por cor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 txBox="1"/>
          <p:nvPr/>
        </p:nvSpPr>
        <p:spPr>
          <a:xfrm>
            <a:off x="1979612" y="5445125"/>
            <a:ext cx="6089650" cy="517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Temos tudo para crescer  pois a sociedade pressiona as indústrias a trabalharem com o material reciclado.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Baskerville"/>
              <a:buNone/>
            </a:pPr>
            <a:r>
              <a:rPr b="0" i="0" lang="en-US" sz="5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Produtos</a:t>
            </a:r>
            <a:endParaRPr/>
          </a:p>
        </p:txBody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Vidros brancos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Vidros verdes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Vidros âmbar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Vidros mistos.</a:t>
            </a:r>
            <a:endParaRPr/>
          </a:p>
        </p:txBody>
      </p:sp>
      <p:sp>
        <p:nvSpPr>
          <p:cNvPr id="56" name="Google Shape;56;p9"/>
          <p:cNvSpPr txBox="1"/>
          <p:nvPr/>
        </p:nvSpPr>
        <p:spPr>
          <a:xfrm>
            <a:off x="2268537" y="5661025"/>
            <a:ext cx="45926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vidro é o único material que tem ciclo de vida infinito.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Baskerville"/>
              <a:buNone/>
            </a:pPr>
            <a:br>
              <a:rPr b="0" i="0" lang="en-US" sz="5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b="0" i="0" lang="en-US" sz="5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Público Alvo</a:t>
            </a:r>
            <a:br>
              <a:rPr b="0" i="0" lang="en-US" sz="5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endParaRPr/>
          </a:p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Indústrias de vidros</a:t>
            </a:r>
            <a:endParaRPr/>
          </a:p>
          <a:p>
            <a:pPr indent="-1333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Escolas </a:t>
            </a:r>
            <a:endParaRPr/>
          </a:p>
          <a:p>
            <a:pPr indent="-1333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1" marL="74295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indústria vidreira deverá buscar mais o material reciclado. Até porque o produto é 60% mais barato do que o desenvolvido com matéria-prima virgem.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64" name="Google Shape;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Fornecedores</a:t>
            </a:r>
            <a:endParaRPr/>
          </a:p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Mercado difuso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Canal frio (bares, restaurantes, hotéis, etc.)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Industria de envase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3200"/>
              <a:buFont typeface="Noto Sans Symbols"/>
              <a:buChar char="⮚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Coletadores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ctrTitle"/>
          </p:nvPr>
        </p:nvSpPr>
        <p:spPr>
          <a:xfrm>
            <a:off x="685800" y="188912"/>
            <a:ext cx="77724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Baskerville"/>
              <a:buNone/>
            </a:pPr>
            <a:r>
              <a:rPr b="0" i="0" lang="en-US" sz="5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Sócias</a:t>
            </a:r>
            <a:endParaRPr/>
          </a:p>
        </p:txBody>
      </p:sp>
      <p:sp>
        <p:nvSpPr>
          <p:cNvPr id="76" name="Google Shape;76;p12"/>
          <p:cNvSpPr txBox="1"/>
          <p:nvPr>
            <p:ph idx="1" type="subTitle"/>
          </p:nvPr>
        </p:nvSpPr>
        <p:spPr>
          <a:xfrm>
            <a:off x="684212" y="1341437"/>
            <a:ext cx="8135937" cy="4297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Divina Maria Ferreira Souza Martins, 29 casada,  cursando Engenharia de Produção pela Universidade Uniube.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Natália Duarte, 20 solteira,  cursando Engenharia de Produção pela Universidade Uniube.</a:t>
            </a:r>
            <a:endParaRPr/>
          </a:p>
        </p:txBody>
      </p:sp>
      <p:pic>
        <p:nvPicPr>
          <p:cNvPr id="77" name="Google Shape;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Baskerville"/>
              <a:buNone/>
            </a:pPr>
            <a:r>
              <a:rPr b="0" i="0" lang="en-US" sz="5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Missão</a:t>
            </a: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Atender de forma ecologicamente correta a demanda no mercado nacional, produzindo vidros de qualidade para suprir as necessidades dos consumidores.</a:t>
            </a:r>
            <a:endParaRPr/>
          </a:p>
        </p:txBody>
      </p:sp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Baskerville"/>
              <a:buNone/>
            </a:pPr>
            <a:r>
              <a:rPr b="0" i="0" lang="en-US" sz="5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Visão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 uma empresa referência no ramo de reciclagem de vidros atendendo os clientes de forma sustentável.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idx="4294967295" type="ctrTitle"/>
          </p:nvPr>
        </p:nvSpPr>
        <p:spPr>
          <a:xfrm>
            <a:off x="0" y="260350"/>
            <a:ext cx="8964612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Baskerville"/>
              <a:buNone/>
            </a:pPr>
            <a:r>
              <a:rPr b="0" i="0" lang="en-US" sz="5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Localização</a:t>
            </a:r>
            <a:r>
              <a:rPr b="0" i="0" lang="en-US" sz="4400" u="none" cap="none" strike="noStrike">
                <a:solidFill>
                  <a:schemeClr val="dk2"/>
                </a:solidFill>
                <a:latin typeface="Algerian"/>
                <a:ea typeface="Algerian"/>
                <a:cs typeface="Algerian"/>
                <a:sym typeface="Algerian"/>
              </a:rPr>
              <a:t> </a:t>
            </a:r>
            <a:endParaRPr/>
          </a:p>
        </p:txBody>
      </p:sp>
      <p:sp>
        <p:nvSpPr>
          <p:cNvPr id="97" name="Google Shape;97;p15"/>
          <p:cNvSpPr txBox="1"/>
          <p:nvPr>
            <p:ph idx="4294967295" type="subTitle"/>
          </p:nvPr>
        </p:nvSpPr>
        <p:spPr>
          <a:xfrm>
            <a:off x="1366837" y="2997200"/>
            <a:ext cx="7777162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Jardim Umuarama, BR-050 próximo à saída para Araguari</a:t>
            </a:r>
            <a:endParaRPr/>
          </a:p>
        </p:txBody>
      </p:sp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57200" y="274637"/>
            <a:ext cx="82296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Baskerville"/>
              <a:buNone/>
            </a:pPr>
            <a:r>
              <a:rPr b="0" i="0" lang="en-US" sz="5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Localização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12" y="1557337"/>
            <a:ext cx="8207375" cy="4535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Baskerville"/>
              <a:buNone/>
            </a:pPr>
            <a:r>
              <a:rPr b="0" i="0" lang="en-US" sz="5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Planta Baixa</a:t>
            </a:r>
            <a:endParaRPr/>
          </a:p>
        </p:txBody>
      </p:sp>
      <p:pic>
        <p:nvPicPr>
          <p:cNvPr id="112" name="Google Shape;112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1773237"/>
            <a:ext cx="8137525" cy="4824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idx="4294967295" type="title"/>
          </p:nvPr>
        </p:nvSpPr>
        <p:spPr>
          <a:xfrm>
            <a:off x="0" y="274637"/>
            <a:ext cx="8229600" cy="66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Baskerville"/>
              <a:buNone/>
            </a:pPr>
            <a:r>
              <a:rPr b="0" i="0" lang="en-US" sz="5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Recursos Humanos</a:t>
            </a:r>
            <a:endParaRPr/>
          </a:p>
        </p:txBody>
      </p:sp>
      <p:graphicFrame>
        <p:nvGraphicFramePr>
          <p:cNvPr id="119" name="Google Shape;119;p18"/>
          <p:cNvGraphicFramePr/>
          <p:nvPr/>
        </p:nvGraphicFramePr>
        <p:xfrm>
          <a:off x="328612" y="246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{128C6E2D-245E-420E-96C5-815A2A362CF0}</a:tableStyleId>
              </a:tblPr>
              <a:tblGrid>
                <a:gridCol w="1114425"/>
                <a:gridCol w="1470025"/>
                <a:gridCol w="742950"/>
                <a:gridCol w="787400"/>
                <a:gridCol w="762000"/>
                <a:gridCol w="844550"/>
                <a:gridCol w="771525"/>
                <a:gridCol w="501650"/>
                <a:gridCol w="749300"/>
                <a:gridCol w="742950"/>
              </a:tblGrid>
              <a:tr h="273050">
                <a:tc gridSpan="10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FOLHA DE PAGAMENTO MENSAL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Nº de funcionários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Funções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Salário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INSS (11%)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FGTS (8%)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V.Transporte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13º Salário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Férias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FGTS 50%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Gerente de Produção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1.200,00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132,00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1.332,00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Gerente Administrativo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1200,00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132,00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1.332,00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Secretária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41,66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13,88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663,54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Líder de Produção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650,00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54,16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18,05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837,21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Operários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450,00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12,50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12,50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4448,00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b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8.612,75 </a:t>
                      </a:r>
                      <a:endParaRPr/>
                    </a:p>
                  </a:txBody>
                  <a:tcPr marT="45725" marB="45725" marR="91450" marL="91450" anchor="b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idx="4294967295" type="title"/>
          </p:nvPr>
        </p:nvSpPr>
        <p:spPr>
          <a:xfrm>
            <a:off x="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Baskerville"/>
              <a:buNone/>
            </a:pPr>
            <a:r>
              <a:rPr b="0" i="0" lang="en-US" sz="5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Custos Fixos</a:t>
            </a:r>
            <a:endParaRPr/>
          </a:p>
        </p:txBody>
      </p:sp>
      <p:graphicFrame>
        <p:nvGraphicFramePr>
          <p:cNvPr id="126" name="Google Shape;126;p19"/>
          <p:cNvGraphicFramePr/>
          <p:nvPr/>
        </p:nvGraphicFramePr>
        <p:xfrm>
          <a:off x="2555875" y="19637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{128C6E2D-245E-420E-96C5-815A2A362CF0}</a:tableStyleId>
              </a:tblPr>
              <a:tblGrid>
                <a:gridCol w="2232025"/>
                <a:gridCol w="2160575"/>
              </a:tblGrid>
              <a:tr h="27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Descrição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Salários + encargos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8.612,75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Aluguel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2.500,00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Energia elétrica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1.500,00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Água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150,00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Telefone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100,00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Uniformes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240,00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Contador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450,00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Material para escritório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100,00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Manutenção da empresa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1.500,00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Despesas Diversas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350,00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TOTAL                                                     R$      15.502,75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C0C0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idx="4294967295" type="title"/>
          </p:nvPr>
        </p:nvSpPr>
        <p:spPr>
          <a:xfrm>
            <a:off x="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Baskerville"/>
              <a:buNone/>
            </a:pPr>
            <a:r>
              <a:rPr b="0" i="0" lang="en-US" sz="5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Custos Variáveis</a:t>
            </a:r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4" name="Google Shape;134;p20"/>
          <p:cNvGraphicFramePr/>
          <p:nvPr/>
        </p:nvGraphicFramePr>
        <p:xfrm>
          <a:off x="3049587" y="269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{128C6E2D-245E-420E-96C5-815A2A362CF0}</a:tableStyleId>
              </a:tblPr>
              <a:tblGrid>
                <a:gridCol w="1511300"/>
                <a:gridCol w="1811325"/>
              </a:tblGrid>
              <a:tr h="27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Descrição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Frete de caminhões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1.600,00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Matéria - prima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2.937,50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Propaganda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1.314,99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Material de limpeza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250,00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TOTAL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6.102,49 </a:t>
                      </a:r>
                      <a:endParaRPr/>
                    </a:p>
                  </a:txBody>
                  <a:tcPr marT="45725" marB="45725" marR="91450" marL="91450" anchor="b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6969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b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40" name="Google Shape;140;p21"/>
          <p:cNvSpPr txBox="1"/>
          <p:nvPr>
            <p:ph idx="4294967295" type="subTitle"/>
          </p:nvPr>
        </p:nvSpPr>
        <p:spPr>
          <a:xfrm>
            <a:off x="862012" y="260350"/>
            <a:ext cx="8281987" cy="63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Libre Baskerville"/>
              <a:buNone/>
            </a:pPr>
            <a:r>
              <a:rPr b="0" i="0" lang="en-US" sz="54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Oportunidade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0" i="0" sz="54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52400" lvl="1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Maior apreço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/>
          </a:p>
          <a:p>
            <a:pPr indent="-152400" lvl="1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Mercado de construção em expansão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Libre Baskerville"/>
              <a:buNone/>
            </a:pPr>
            <a:r>
              <a:rPr b="0" i="0" lang="en-US" sz="54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Força </a:t>
            </a:r>
            <a:endParaRPr/>
          </a:p>
          <a:p>
            <a:pPr indent="-152400" lvl="1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Preços baixo para o cliente </a:t>
            </a:r>
            <a:endParaRPr/>
          </a:p>
          <a:p>
            <a:pPr indent="-152400" lvl="1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Produtos de ótima qualidade</a:t>
            </a:r>
            <a:endParaRPr/>
          </a:p>
          <a:p>
            <a:pPr indent="-152400" lvl="1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Localização de fácil acesso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b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47" name="Google Shape;147;p22"/>
          <p:cNvSpPr txBox="1"/>
          <p:nvPr>
            <p:ph idx="4294967295" type="subTitle"/>
          </p:nvPr>
        </p:nvSpPr>
        <p:spPr>
          <a:xfrm>
            <a:off x="755650" y="260350"/>
            <a:ext cx="8388350" cy="659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Libre Baskerville"/>
              <a:buNone/>
            </a:pPr>
            <a:r>
              <a:rPr b="0" i="0" lang="en-US" sz="54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Ameaças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0" i="0" sz="5400" u="non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152400" lvl="1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Falta de regularização no fluxo de vendas</a:t>
            </a:r>
            <a:endParaRPr/>
          </a:p>
          <a:p>
            <a:pPr indent="-152400" lvl="1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 de concorrência crescente</a:t>
            </a:r>
            <a:endParaRPr/>
          </a:p>
          <a:p>
            <a:pPr indent="-152400" lvl="1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Mudança da tecnologia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Libre Baskerville"/>
              <a:buNone/>
            </a:pPr>
            <a:r>
              <a:rPr b="0" i="0" lang="en-US" sz="5400" u="non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Fraquezas </a:t>
            </a:r>
            <a:endParaRPr/>
          </a:p>
          <a:p>
            <a:pPr indent="-152400" lvl="1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Dificuldade da matéria-prima </a:t>
            </a:r>
            <a:endParaRPr/>
          </a:p>
          <a:p>
            <a:pPr indent="-152400" lvl="1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Pouca consolidade</a:t>
            </a:r>
            <a:endParaRPr/>
          </a:p>
          <a:p>
            <a:pPr indent="-152400" lvl="1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Baixo conceito junto ao mercado local</a:t>
            </a:r>
            <a:endParaRPr/>
          </a:p>
        </p:txBody>
      </p:sp>
      <p:pic>
        <p:nvPicPr>
          <p:cNvPr id="148" name="Google Shape;1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Baskerville"/>
              <a:buNone/>
            </a:pPr>
            <a:r>
              <a:rPr b="0" i="0" lang="en-US" sz="5400" u="non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Estratégia de Marketing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Sites, emails.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Panfletos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Rádio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Jornais da cidade e regiões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idx="4294967295" type="title"/>
          </p:nvPr>
        </p:nvSpPr>
        <p:spPr>
          <a:xfrm>
            <a:off x="0" y="274637"/>
            <a:ext cx="8229600" cy="63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Baskerville"/>
              <a:buNone/>
            </a:pPr>
            <a:r>
              <a:rPr b="0" i="0" lang="en-US" sz="5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Finanças </a:t>
            </a:r>
            <a:endParaRPr/>
          </a:p>
        </p:txBody>
      </p:sp>
      <p:graphicFrame>
        <p:nvGraphicFramePr>
          <p:cNvPr id="161" name="Google Shape;161;p24"/>
          <p:cNvGraphicFramePr/>
          <p:nvPr/>
        </p:nvGraphicFramePr>
        <p:xfrm>
          <a:off x="2843212" y="98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{128C6E2D-245E-420E-96C5-815A2A362CF0}</a:tableStyleId>
              </a:tblPr>
              <a:tblGrid>
                <a:gridCol w="1808150"/>
                <a:gridCol w="2152650"/>
              </a:tblGrid>
              <a:tr h="2730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INVESTIMENTOS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Quantidade/Descrição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8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REFORMA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Pintura e instalações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5.000,00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8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EQUIPAMENTOS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01- Balança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1.349,99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01-Triturador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2.200,00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01-Decantador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1.200,00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03-Tambor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2.400,00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02-Esteira de Triagem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3.600,00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8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MOVEIS PARA EMPRESA 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02-Computador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7.000,00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02-Mesas (simples)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  400,00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02-Cadeira (simples)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  360,00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03- Cadeira conjugada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  750,00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01-Impressora multifuncional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  399,99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01-Aparelho telefônico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    35,00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01-Ar condicionado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  450,00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02- Bebedouro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  500,00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8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OUTROS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Gastos com abertura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    250,00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Capital de Giro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10.000,00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R$                    35.894,98 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69696"/>
                    </a:solidFill>
                  </a:tcPr>
                </a:tc>
              </a:tr>
            </a:tbl>
          </a:graphicData>
        </a:graphic>
      </p:graphicFrame>
      <p:pic>
        <p:nvPicPr>
          <p:cNvPr id="162" name="Google Shape;1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idx="4294967295"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Estimativa de Produto</a:t>
            </a:r>
            <a:endParaRPr/>
          </a:p>
        </p:txBody>
      </p:sp>
      <p:pic>
        <p:nvPicPr>
          <p:cNvPr id="168" name="Google Shape;1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25"/>
          <p:cNvGrpSpPr/>
          <p:nvPr/>
        </p:nvGrpSpPr>
        <p:grpSpPr>
          <a:xfrm>
            <a:off x="2700337" y="1773237"/>
            <a:ext cx="5040312" cy="1911350"/>
            <a:chOff x="1701" y="1117"/>
            <a:chExt cx="3175" cy="1204"/>
          </a:xfrm>
        </p:grpSpPr>
        <p:sp>
          <p:nvSpPr>
            <p:cNvPr id="170" name="Google Shape;170;p25"/>
            <p:cNvSpPr txBox="1"/>
            <p:nvPr/>
          </p:nvSpPr>
          <p:spPr>
            <a:xfrm>
              <a:off x="3932" y="2149"/>
              <a:ext cx="944" cy="17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2.937,50 </a:t>
              </a:r>
              <a:endParaRPr/>
            </a:p>
          </p:txBody>
        </p:sp>
        <p:sp>
          <p:nvSpPr>
            <p:cNvPr id="171" name="Google Shape;171;p25"/>
            <p:cNvSpPr txBox="1"/>
            <p:nvPr/>
          </p:nvSpPr>
          <p:spPr>
            <a:xfrm>
              <a:off x="3184" y="2149"/>
              <a:ext cx="748" cy="17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172" name="Google Shape;172;p25"/>
            <p:cNvSpPr txBox="1"/>
            <p:nvPr/>
          </p:nvSpPr>
          <p:spPr>
            <a:xfrm>
              <a:off x="2520" y="2149"/>
              <a:ext cx="664" cy="17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173" name="Google Shape;173;p25"/>
            <p:cNvSpPr txBox="1"/>
            <p:nvPr/>
          </p:nvSpPr>
          <p:spPr>
            <a:xfrm>
              <a:off x="1701" y="2149"/>
              <a:ext cx="819" cy="17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TOTAL</a:t>
              </a:r>
              <a:endParaRPr/>
            </a:p>
          </p:txBody>
        </p:sp>
        <p:sp>
          <p:nvSpPr>
            <p:cNvPr id="174" name="Google Shape;174;p25"/>
            <p:cNvSpPr txBox="1"/>
            <p:nvPr/>
          </p:nvSpPr>
          <p:spPr>
            <a:xfrm>
              <a:off x="3932" y="1977"/>
              <a:ext cx="944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  500,00 </a:t>
              </a:r>
              <a:endParaRPr/>
            </a:p>
          </p:txBody>
        </p:sp>
        <p:sp>
          <p:nvSpPr>
            <p:cNvPr id="175" name="Google Shape;175;p25"/>
            <p:cNvSpPr txBox="1"/>
            <p:nvPr/>
          </p:nvSpPr>
          <p:spPr>
            <a:xfrm>
              <a:off x="3184" y="1977"/>
              <a:ext cx="748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0,40 </a:t>
              </a:r>
              <a:endParaRPr/>
            </a:p>
          </p:txBody>
        </p:sp>
        <p:sp>
          <p:nvSpPr>
            <p:cNvPr id="176" name="Google Shape;176;p25"/>
            <p:cNvSpPr txBox="1"/>
            <p:nvPr/>
          </p:nvSpPr>
          <p:spPr>
            <a:xfrm>
              <a:off x="2520" y="1977"/>
              <a:ext cx="664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1250kilos</a:t>
              </a:r>
              <a:endParaRPr/>
            </a:p>
          </p:txBody>
        </p:sp>
        <p:sp>
          <p:nvSpPr>
            <p:cNvPr id="177" name="Google Shape;177;p25"/>
            <p:cNvSpPr txBox="1"/>
            <p:nvPr/>
          </p:nvSpPr>
          <p:spPr>
            <a:xfrm>
              <a:off x="1701" y="1977"/>
              <a:ext cx="819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Vidros âmbar</a:t>
              </a:r>
              <a:endParaRPr/>
            </a:p>
          </p:txBody>
        </p:sp>
        <p:sp>
          <p:nvSpPr>
            <p:cNvPr id="178" name="Google Shape;178;p25"/>
            <p:cNvSpPr txBox="1"/>
            <p:nvPr/>
          </p:nvSpPr>
          <p:spPr>
            <a:xfrm>
              <a:off x="3932" y="1805"/>
              <a:ext cx="944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  625,00 </a:t>
              </a:r>
              <a:endParaRPr/>
            </a:p>
          </p:txBody>
        </p:sp>
        <p:sp>
          <p:nvSpPr>
            <p:cNvPr id="179" name="Google Shape;179;p25"/>
            <p:cNvSpPr txBox="1"/>
            <p:nvPr/>
          </p:nvSpPr>
          <p:spPr>
            <a:xfrm>
              <a:off x="3184" y="1805"/>
              <a:ext cx="748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0,50 </a:t>
              </a:r>
              <a:endParaRPr/>
            </a:p>
          </p:txBody>
        </p:sp>
        <p:sp>
          <p:nvSpPr>
            <p:cNvPr id="180" name="Google Shape;180;p25"/>
            <p:cNvSpPr txBox="1"/>
            <p:nvPr/>
          </p:nvSpPr>
          <p:spPr>
            <a:xfrm>
              <a:off x="2520" y="1805"/>
              <a:ext cx="664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1250kilos</a:t>
              </a:r>
              <a:endParaRPr/>
            </a:p>
          </p:txBody>
        </p:sp>
        <p:sp>
          <p:nvSpPr>
            <p:cNvPr id="181" name="Google Shape;181;p25"/>
            <p:cNvSpPr txBox="1"/>
            <p:nvPr/>
          </p:nvSpPr>
          <p:spPr>
            <a:xfrm>
              <a:off x="1701" y="1805"/>
              <a:ext cx="819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Vidros mistos</a:t>
              </a:r>
              <a:endParaRPr/>
            </a:p>
          </p:txBody>
        </p:sp>
        <p:sp>
          <p:nvSpPr>
            <p:cNvPr id="182" name="Google Shape;182;p25"/>
            <p:cNvSpPr txBox="1"/>
            <p:nvPr/>
          </p:nvSpPr>
          <p:spPr>
            <a:xfrm>
              <a:off x="3932" y="1633"/>
              <a:ext cx="944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  812,50 </a:t>
              </a:r>
              <a:endParaRPr/>
            </a:p>
          </p:txBody>
        </p:sp>
        <p:sp>
          <p:nvSpPr>
            <p:cNvPr id="183" name="Google Shape;183;p25"/>
            <p:cNvSpPr txBox="1"/>
            <p:nvPr/>
          </p:nvSpPr>
          <p:spPr>
            <a:xfrm>
              <a:off x="3184" y="1633"/>
              <a:ext cx="748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0,65 </a:t>
              </a:r>
              <a:endParaRPr/>
            </a:p>
          </p:txBody>
        </p:sp>
        <p:sp>
          <p:nvSpPr>
            <p:cNvPr id="184" name="Google Shape;184;p25"/>
            <p:cNvSpPr txBox="1"/>
            <p:nvPr/>
          </p:nvSpPr>
          <p:spPr>
            <a:xfrm>
              <a:off x="2520" y="1633"/>
              <a:ext cx="664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1250kilos</a:t>
              </a:r>
              <a:endParaRPr/>
            </a:p>
          </p:txBody>
        </p:sp>
        <p:sp>
          <p:nvSpPr>
            <p:cNvPr id="185" name="Google Shape;185;p25"/>
            <p:cNvSpPr txBox="1"/>
            <p:nvPr/>
          </p:nvSpPr>
          <p:spPr>
            <a:xfrm>
              <a:off x="1701" y="1633"/>
              <a:ext cx="819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Vidros verdes</a:t>
              </a:r>
              <a:endParaRPr/>
            </a:p>
          </p:txBody>
        </p:sp>
        <p:sp>
          <p:nvSpPr>
            <p:cNvPr id="186" name="Google Shape;186;p25"/>
            <p:cNvSpPr txBox="1"/>
            <p:nvPr/>
          </p:nvSpPr>
          <p:spPr>
            <a:xfrm>
              <a:off x="3932" y="1461"/>
              <a:ext cx="944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1.000,00 </a:t>
              </a:r>
              <a:endParaRPr/>
            </a:p>
          </p:txBody>
        </p:sp>
        <p:sp>
          <p:nvSpPr>
            <p:cNvPr id="187" name="Google Shape;187;p25"/>
            <p:cNvSpPr txBox="1"/>
            <p:nvPr/>
          </p:nvSpPr>
          <p:spPr>
            <a:xfrm>
              <a:off x="3184" y="1461"/>
              <a:ext cx="748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0,80 </a:t>
              </a:r>
              <a:endParaRPr/>
            </a:p>
          </p:txBody>
        </p:sp>
        <p:sp>
          <p:nvSpPr>
            <p:cNvPr id="188" name="Google Shape;188;p25"/>
            <p:cNvSpPr txBox="1"/>
            <p:nvPr/>
          </p:nvSpPr>
          <p:spPr>
            <a:xfrm>
              <a:off x="2520" y="1461"/>
              <a:ext cx="664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1250kilos</a:t>
              </a:r>
              <a:endParaRPr/>
            </a:p>
          </p:txBody>
        </p:sp>
        <p:sp>
          <p:nvSpPr>
            <p:cNvPr id="189" name="Google Shape;189;p25"/>
            <p:cNvSpPr txBox="1"/>
            <p:nvPr/>
          </p:nvSpPr>
          <p:spPr>
            <a:xfrm>
              <a:off x="1701" y="1461"/>
              <a:ext cx="819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Vidros brancos</a:t>
              </a:r>
              <a:endParaRPr/>
            </a:p>
          </p:txBody>
        </p:sp>
        <p:sp>
          <p:nvSpPr>
            <p:cNvPr id="190" name="Google Shape;190;p25"/>
            <p:cNvSpPr txBox="1"/>
            <p:nvPr/>
          </p:nvSpPr>
          <p:spPr>
            <a:xfrm>
              <a:off x="3932" y="1289"/>
              <a:ext cx="944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Valor</a:t>
              </a:r>
              <a:endParaRPr/>
            </a:p>
          </p:txBody>
        </p:sp>
        <p:sp>
          <p:nvSpPr>
            <p:cNvPr id="191" name="Google Shape;191;p25"/>
            <p:cNvSpPr txBox="1"/>
            <p:nvPr/>
          </p:nvSpPr>
          <p:spPr>
            <a:xfrm>
              <a:off x="3184" y="1289"/>
              <a:ext cx="748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Preços unit</a:t>
              </a:r>
              <a:endParaRPr/>
            </a:p>
          </p:txBody>
        </p:sp>
        <p:sp>
          <p:nvSpPr>
            <p:cNvPr id="192" name="Google Shape;192;p25"/>
            <p:cNvSpPr txBox="1"/>
            <p:nvPr/>
          </p:nvSpPr>
          <p:spPr>
            <a:xfrm>
              <a:off x="2520" y="1289"/>
              <a:ext cx="664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Quantidade</a:t>
              </a:r>
              <a:endParaRPr/>
            </a:p>
          </p:txBody>
        </p:sp>
        <p:sp>
          <p:nvSpPr>
            <p:cNvPr id="193" name="Google Shape;193;p25"/>
            <p:cNvSpPr txBox="1"/>
            <p:nvPr/>
          </p:nvSpPr>
          <p:spPr>
            <a:xfrm>
              <a:off x="1701" y="1289"/>
              <a:ext cx="819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Descrição</a:t>
              </a:r>
              <a:endParaRPr/>
            </a:p>
          </p:txBody>
        </p:sp>
        <p:sp>
          <p:nvSpPr>
            <p:cNvPr id="194" name="Google Shape;194;p25"/>
            <p:cNvSpPr txBox="1"/>
            <p:nvPr/>
          </p:nvSpPr>
          <p:spPr>
            <a:xfrm>
              <a:off x="1701" y="1117"/>
              <a:ext cx="3175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VALOR DA MERCADORIA </a:t>
              </a:r>
              <a:endParaRPr/>
            </a:p>
          </p:txBody>
        </p:sp>
        <p:cxnSp>
          <p:nvCxnSpPr>
            <p:cNvPr id="195" name="Google Shape;195;p25"/>
            <p:cNvCxnSpPr/>
            <p:nvPr/>
          </p:nvCxnSpPr>
          <p:spPr>
            <a:xfrm>
              <a:off x="1701" y="1117"/>
              <a:ext cx="3175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196" name="Google Shape;196;p25"/>
            <p:cNvCxnSpPr/>
            <p:nvPr/>
          </p:nvCxnSpPr>
          <p:spPr>
            <a:xfrm>
              <a:off x="1701" y="2321"/>
              <a:ext cx="3175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197" name="Google Shape;197;p25"/>
            <p:cNvCxnSpPr/>
            <p:nvPr/>
          </p:nvCxnSpPr>
          <p:spPr>
            <a:xfrm>
              <a:off x="1701" y="1117"/>
              <a:ext cx="0" cy="1204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198" name="Google Shape;198;p25"/>
            <p:cNvCxnSpPr/>
            <p:nvPr/>
          </p:nvCxnSpPr>
          <p:spPr>
            <a:xfrm>
              <a:off x="4876" y="1117"/>
              <a:ext cx="0" cy="1204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199" name="Google Shape;199;p25"/>
            <p:cNvCxnSpPr/>
            <p:nvPr/>
          </p:nvCxnSpPr>
          <p:spPr>
            <a:xfrm>
              <a:off x="1701" y="1289"/>
              <a:ext cx="3175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00" name="Google Shape;200;p25"/>
            <p:cNvCxnSpPr/>
            <p:nvPr/>
          </p:nvCxnSpPr>
          <p:spPr>
            <a:xfrm>
              <a:off x="1701" y="1461"/>
              <a:ext cx="3175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01" name="Google Shape;201;p25"/>
            <p:cNvCxnSpPr/>
            <p:nvPr/>
          </p:nvCxnSpPr>
          <p:spPr>
            <a:xfrm>
              <a:off x="2520" y="1289"/>
              <a:ext cx="0" cy="1032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02" name="Google Shape;202;p25"/>
            <p:cNvCxnSpPr/>
            <p:nvPr/>
          </p:nvCxnSpPr>
          <p:spPr>
            <a:xfrm>
              <a:off x="3184" y="1289"/>
              <a:ext cx="0" cy="1032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03" name="Google Shape;203;p25"/>
            <p:cNvCxnSpPr/>
            <p:nvPr/>
          </p:nvCxnSpPr>
          <p:spPr>
            <a:xfrm>
              <a:off x="3932" y="1289"/>
              <a:ext cx="0" cy="1032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04" name="Google Shape;204;p25"/>
            <p:cNvCxnSpPr/>
            <p:nvPr/>
          </p:nvCxnSpPr>
          <p:spPr>
            <a:xfrm>
              <a:off x="1701" y="1633"/>
              <a:ext cx="3175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05" name="Google Shape;205;p25"/>
            <p:cNvCxnSpPr/>
            <p:nvPr/>
          </p:nvCxnSpPr>
          <p:spPr>
            <a:xfrm>
              <a:off x="1701" y="1805"/>
              <a:ext cx="3175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06" name="Google Shape;206;p25"/>
            <p:cNvCxnSpPr/>
            <p:nvPr/>
          </p:nvCxnSpPr>
          <p:spPr>
            <a:xfrm>
              <a:off x="1701" y="1977"/>
              <a:ext cx="3175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07" name="Google Shape;207;p25"/>
            <p:cNvCxnSpPr/>
            <p:nvPr/>
          </p:nvCxnSpPr>
          <p:spPr>
            <a:xfrm>
              <a:off x="1701" y="2149"/>
              <a:ext cx="3175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</p:grpSp>
      <p:grpSp>
        <p:nvGrpSpPr>
          <p:cNvPr id="208" name="Google Shape;208;p25"/>
          <p:cNvGrpSpPr/>
          <p:nvPr/>
        </p:nvGrpSpPr>
        <p:grpSpPr>
          <a:xfrm>
            <a:off x="2700337" y="4005262"/>
            <a:ext cx="5040312" cy="2185987"/>
            <a:chOff x="0" y="0"/>
            <a:chExt cx="2533" cy="1077"/>
          </a:xfrm>
        </p:grpSpPr>
        <p:sp>
          <p:nvSpPr>
            <p:cNvPr id="209" name="Google Shape;209;p25"/>
            <p:cNvSpPr txBox="1"/>
            <p:nvPr/>
          </p:nvSpPr>
          <p:spPr>
            <a:xfrm>
              <a:off x="1765" y="923"/>
              <a:ext cx="768" cy="154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54.750,00 </a:t>
              </a:r>
              <a:endParaRPr/>
            </a:p>
          </p:txBody>
        </p:sp>
        <p:sp>
          <p:nvSpPr>
            <p:cNvPr id="210" name="Google Shape;210;p25"/>
            <p:cNvSpPr txBox="1"/>
            <p:nvPr/>
          </p:nvSpPr>
          <p:spPr>
            <a:xfrm>
              <a:off x="1173" y="923"/>
              <a:ext cx="592" cy="154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11" name="Google Shape;211;p25"/>
            <p:cNvSpPr txBox="1"/>
            <p:nvPr/>
          </p:nvSpPr>
          <p:spPr>
            <a:xfrm>
              <a:off x="647" y="923"/>
              <a:ext cx="526" cy="154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12" name="Google Shape;212;p25"/>
            <p:cNvSpPr txBox="1"/>
            <p:nvPr/>
          </p:nvSpPr>
          <p:spPr>
            <a:xfrm>
              <a:off x="0" y="923"/>
              <a:ext cx="647" cy="154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TOTAL</a:t>
              </a:r>
              <a:endParaRPr/>
            </a:p>
          </p:txBody>
        </p:sp>
        <p:sp>
          <p:nvSpPr>
            <p:cNvPr id="213" name="Google Shape;213;p25"/>
            <p:cNvSpPr txBox="1"/>
            <p:nvPr/>
          </p:nvSpPr>
          <p:spPr>
            <a:xfrm>
              <a:off x="1765" y="769"/>
              <a:ext cx="768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13.250,00 </a:t>
              </a:r>
              <a:endParaRPr/>
            </a:p>
          </p:txBody>
        </p:sp>
        <p:sp>
          <p:nvSpPr>
            <p:cNvPr id="214" name="Google Shape;214;p25"/>
            <p:cNvSpPr txBox="1"/>
            <p:nvPr/>
          </p:nvSpPr>
          <p:spPr>
            <a:xfrm>
              <a:off x="1173" y="769"/>
              <a:ext cx="592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26,50 </a:t>
              </a:r>
              <a:endParaRPr/>
            </a:p>
          </p:txBody>
        </p:sp>
        <p:sp>
          <p:nvSpPr>
            <p:cNvPr id="215" name="Google Shape;215;p25"/>
            <p:cNvSpPr txBox="1"/>
            <p:nvPr/>
          </p:nvSpPr>
          <p:spPr>
            <a:xfrm>
              <a:off x="647" y="769"/>
              <a:ext cx="52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500kilos</a:t>
              </a:r>
              <a:endParaRPr/>
            </a:p>
          </p:txBody>
        </p:sp>
        <p:sp>
          <p:nvSpPr>
            <p:cNvPr id="216" name="Google Shape;216;p25"/>
            <p:cNvSpPr txBox="1"/>
            <p:nvPr/>
          </p:nvSpPr>
          <p:spPr>
            <a:xfrm>
              <a:off x="0" y="769"/>
              <a:ext cx="647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Vidros âmbar</a:t>
              </a:r>
              <a:endParaRPr/>
            </a:p>
          </p:txBody>
        </p:sp>
        <p:sp>
          <p:nvSpPr>
            <p:cNvPr id="217" name="Google Shape;217;p25"/>
            <p:cNvSpPr txBox="1"/>
            <p:nvPr/>
          </p:nvSpPr>
          <p:spPr>
            <a:xfrm>
              <a:off x="1765" y="615"/>
              <a:ext cx="768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11.250,00 </a:t>
              </a:r>
              <a:endParaRPr/>
            </a:p>
          </p:txBody>
        </p:sp>
        <p:sp>
          <p:nvSpPr>
            <p:cNvPr id="218" name="Google Shape;218;p25"/>
            <p:cNvSpPr txBox="1"/>
            <p:nvPr/>
          </p:nvSpPr>
          <p:spPr>
            <a:xfrm>
              <a:off x="1173" y="615"/>
              <a:ext cx="592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22,50 </a:t>
              </a:r>
              <a:endParaRPr/>
            </a:p>
          </p:txBody>
        </p:sp>
        <p:sp>
          <p:nvSpPr>
            <p:cNvPr id="219" name="Google Shape;219;p25"/>
            <p:cNvSpPr txBox="1"/>
            <p:nvPr/>
          </p:nvSpPr>
          <p:spPr>
            <a:xfrm>
              <a:off x="647" y="615"/>
              <a:ext cx="52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500kilos</a:t>
              </a:r>
              <a:endParaRPr/>
            </a:p>
          </p:txBody>
        </p:sp>
        <p:sp>
          <p:nvSpPr>
            <p:cNvPr id="220" name="Google Shape;220;p25"/>
            <p:cNvSpPr txBox="1"/>
            <p:nvPr/>
          </p:nvSpPr>
          <p:spPr>
            <a:xfrm>
              <a:off x="0" y="615"/>
              <a:ext cx="647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Vidros mistos </a:t>
              </a:r>
              <a:endParaRPr/>
            </a:p>
          </p:txBody>
        </p:sp>
        <p:sp>
          <p:nvSpPr>
            <p:cNvPr id="221" name="Google Shape;221;p25"/>
            <p:cNvSpPr txBox="1"/>
            <p:nvPr/>
          </p:nvSpPr>
          <p:spPr>
            <a:xfrm>
              <a:off x="1765" y="461"/>
              <a:ext cx="768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13.250,00 </a:t>
              </a:r>
              <a:endParaRPr/>
            </a:p>
          </p:txBody>
        </p:sp>
        <p:sp>
          <p:nvSpPr>
            <p:cNvPr id="222" name="Google Shape;222;p25"/>
            <p:cNvSpPr txBox="1"/>
            <p:nvPr/>
          </p:nvSpPr>
          <p:spPr>
            <a:xfrm>
              <a:off x="1173" y="461"/>
              <a:ext cx="592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26,50 </a:t>
              </a:r>
              <a:endParaRPr/>
            </a:p>
          </p:txBody>
        </p:sp>
        <p:sp>
          <p:nvSpPr>
            <p:cNvPr id="223" name="Google Shape;223;p25"/>
            <p:cNvSpPr txBox="1"/>
            <p:nvPr/>
          </p:nvSpPr>
          <p:spPr>
            <a:xfrm>
              <a:off x="647" y="461"/>
              <a:ext cx="52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500kilos</a:t>
              </a:r>
              <a:endParaRPr/>
            </a:p>
          </p:txBody>
        </p:sp>
        <p:sp>
          <p:nvSpPr>
            <p:cNvPr id="224" name="Google Shape;224;p25"/>
            <p:cNvSpPr txBox="1"/>
            <p:nvPr/>
          </p:nvSpPr>
          <p:spPr>
            <a:xfrm>
              <a:off x="0" y="461"/>
              <a:ext cx="647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Vidros verdes</a:t>
              </a:r>
              <a:endParaRPr/>
            </a:p>
          </p:txBody>
        </p:sp>
        <p:sp>
          <p:nvSpPr>
            <p:cNvPr id="225" name="Google Shape;225;p25"/>
            <p:cNvSpPr txBox="1"/>
            <p:nvPr/>
          </p:nvSpPr>
          <p:spPr>
            <a:xfrm>
              <a:off x="1765" y="307"/>
              <a:ext cx="768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17.000,00 </a:t>
              </a:r>
              <a:endParaRPr/>
            </a:p>
          </p:txBody>
        </p:sp>
        <p:sp>
          <p:nvSpPr>
            <p:cNvPr id="226" name="Google Shape;226;p25"/>
            <p:cNvSpPr txBox="1"/>
            <p:nvPr/>
          </p:nvSpPr>
          <p:spPr>
            <a:xfrm>
              <a:off x="1173" y="307"/>
              <a:ext cx="592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34,00 </a:t>
              </a:r>
              <a:endParaRPr/>
            </a:p>
          </p:txBody>
        </p:sp>
        <p:sp>
          <p:nvSpPr>
            <p:cNvPr id="227" name="Google Shape;227;p25"/>
            <p:cNvSpPr txBox="1"/>
            <p:nvPr/>
          </p:nvSpPr>
          <p:spPr>
            <a:xfrm>
              <a:off x="647" y="307"/>
              <a:ext cx="52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500kilos</a:t>
              </a:r>
              <a:endParaRPr/>
            </a:p>
          </p:txBody>
        </p:sp>
        <p:sp>
          <p:nvSpPr>
            <p:cNvPr id="228" name="Google Shape;228;p25"/>
            <p:cNvSpPr txBox="1"/>
            <p:nvPr/>
          </p:nvSpPr>
          <p:spPr>
            <a:xfrm>
              <a:off x="0" y="307"/>
              <a:ext cx="647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Vidros brancos</a:t>
              </a:r>
              <a:endParaRPr/>
            </a:p>
          </p:txBody>
        </p:sp>
        <p:sp>
          <p:nvSpPr>
            <p:cNvPr id="229" name="Google Shape;229;p25"/>
            <p:cNvSpPr txBox="1"/>
            <p:nvPr/>
          </p:nvSpPr>
          <p:spPr>
            <a:xfrm>
              <a:off x="1765" y="153"/>
              <a:ext cx="768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Valor</a:t>
              </a:r>
              <a:endParaRPr/>
            </a:p>
          </p:txBody>
        </p:sp>
        <p:sp>
          <p:nvSpPr>
            <p:cNvPr id="230" name="Google Shape;230;p25"/>
            <p:cNvSpPr txBox="1"/>
            <p:nvPr/>
          </p:nvSpPr>
          <p:spPr>
            <a:xfrm>
              <a:off x="1173" y="153"/>
              <a:ext cx="592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Preços unit</a:t>
              </a:r>
              <a:endParaRPr/>
            </a:p>
          </p:txBody>
        </p:sp>
        <p:sp>
          <p:nvSpPr>
            <p:cNvPr id="231" name="Google Shape;231;p25"/>
            <p:cNvSpPr txBox="1"/>
            <p:nvPr/>
          </p:nvSpPr>
          <p:spPr>
            <a:xfrm>
              <a:off x="647" y="153"/>
              <a:ext cx="52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Quantidade</a:t>
              </a:r>
              <a:endParaRPr/>
            </a:p>
          </p:txBody>
        </p:sp>
        <p:sp>
          <p:nvSpPr>
            <p:cNvPr id="232" name="Google Shape;232;p25"/>
            <p:cNvSpPr txBox="1"/>
            <p:nvPr/>
          </p:nvSpPr>
          <p:spPr>
            <a:xfrm>
              <a:off x="0" y="153"/>
              <a:ext cx="647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Descrição</a:t>
              </a:r>
              <a:endParaRPr/>
            </a:p>
          </p:txBody>
        </p:sp>
        <p:sp>
          <p:nvSpPr>
            <p:cNvPr id="233" name="Google Shape;233;p25"/>
            <p:cNvSpPr txBox="1"/>
            <p:nvPr/>
          </p:nvSpPr>
          <p:spPr>
            <a:xfrm>
              <a:off x="0" y="0"/>
              <a:ext cx="2533" cy="1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ESTIMATIVA DE VENDAS</a:t>
              </a:r>
              <a:endParaRPr/>
            </a:p>
          </p:txBody>
        </p:sp>
        <p:cxnSp>
          <p:nvCxnSpPr>
            <p:cNvPr id="234" name="Google Shape;234;p25"/>
            <p:cNvCxnSpPr/>
            <p:nvPr/>
          </p:nvCxnSpPr>
          <p:spPr>
            <a:xfrm>
              <a:off x="0" y="0"/>
              <a:ext cx="2533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35" name="Google Shape;235;p25"/>
            <p:cNvCxnSpPr/>
            <p:nvPr/>
          </p:nvCxnSpPr>
          <p:spPr>
            <a:xfrm>
              <a:off x="0" y="1077"/>
              <a:ext cx="2533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36" name="Google Shape;236;p25"/>
            <p:cNvCxnSpPr/>
            <p:nvPr/>
          </p:nvCxnSpPr>
          <p:spPr>
            <a:xfrm>
              <a:off x="0" y="0"/>
              <a:ext cx="0" cy="1077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37" name="Google Shape;237;p25"/>
            <p:cNvCxnSpPr/>
            <p:nvPr/>
          </p:nvCxnSpPr>
          <p:spPr>
            <a:xfrm>
              <a:off x="2533" y="0"/>
              <a:ext cx="0" cy="1077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38" name="Google Shape;238;p25"/>
            <p:cNvCxnSpPr/>
            <p:nvPr/>
          </p:nvCxnSpPr>
          <p:spPr>
            <a:xfrm>
              <a:off x="0" y="153"/>
              <a:ext cx="2533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39" name="Google Shape;239;p25"/>
            <p:cNvCxnSpPr/>
            <p:nvPr/>
          </p:nvCxnSpPr>
          <p:spPr>
            <a:xfrm>
              <a:off x="0" y="307"/>
              <a:ext cx="2533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40" name="Google Shape;240;p25"/>
            <p:cNvCxnSpPr/>
            <p:nvPr/>
          </p:nvCxnSpPr>
          <p:spPr>
            <a:xfrm>
              <a:off x="647" y="153"/>
              <a:ext cx="0" cy="77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41" name="Google Shape;241;p25"/>
            <p:cNvCxnSpPr/>
            <p:nvPr/>
          </p:nvCxnSpPr>
          <p:spPr>
            <a:xfrm>
              <a:off x="1173" y="153"/>
              <a:ext cx="0" cy="77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42" name="Google Shape;242;p25"/>
            <p:cNvCxnSpPr/>
            <p:nvPr/>
          </p:nvCxnSpPr>
          <p:spPr>
            <a:xfrm>
              <a:off x="1765" y="153"/>
              <a:ext cx="0" cy="924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43" name="Google Shape;243;p25"/>
            <p:cNvCxnSpPr/>
            <p:nvPr/>
          </p:nvCxnSpPr>
          <p:spPr>
            <a:xfrm>
              <a:off x="0" y="461"/>
              <a:ext cx="2533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>
              <a:off x="0" y="615"/>
              <a:ext cx="2533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45" name="Google Shape;245;p25"/>
            <p:cNvCxnSpPr/>
            <p:nvPr/>
          </p:nvCxnSpPr>
          <p:spPr>
            <a:xfrm>
              <a:off x="0" y="769"/>
              <a:ext cx="2533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46" name="Google Shape;246;p25"/>
            <p:cNvCxnSpPr/>
            <p:nvPr/>
          </p:nvCxnSpPr>
          <p:spPr>
            <a:xfrm>
              <a:off x="0" y="923"/>
              <a:ext cx="2533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79612" cy="129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6"/>
          <p:cNvGrpSpPr/>
          <p:nvPr/>
        </p:nvGrpSpPr>
        <p:grpSpPr>
          <a:xfrm>
            <a:off x="457200" y="1600200"/>
            <a:ext cx="8229600" cy="4641850"/>
            <a:chOff x="288" y="1008"/>
            <a:chExt cx="5184" cy="2924"/>
          </a:xfrm>
        </p:grpSpPr>
        <p:sp>
          <p:nvSpPr>
            <p:cNvPr id="254" name="Google Shape;254;p26"/>
            <p:cNvSpPr txBox="1"/>
            <p:nvPr/>
          </p:nvSpPr>
          <p:spPr>
            <a:xfrm>
              <a:off x="4432" y="3760"/>
              <a:ext cx="104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1ano</a:t>
              </a:r>
              <a:endParaRPr/>
            </a:p>
          </p:txBody>
        </p:sp>
        <p:sp>
          <p:nvSpPr>
            <p:cNvPr id="255" name="Google Shape;255;p26"/>
            <p:cNvSpPr txBox="1"/>
            <p:nvPr/>
          </p:nvSpPr>
          <p:spPr>
            <a:xfrm>
              <a:off x="3300" y="3760"/>
              <a:ext cx="113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1ano e 2 mês</a:t>
              </a:r>
              <a:endParaRPr/>
            </a:p>
          </p:txBody>
        </p:sp>
        <p:sp>
          <p:nvSpPr>
            <p:cNvPr id="256" name="Google Shape;256;p26"/>
            <p:cNvSpPr txBox="1"/>
            <p:nvPr/>
          </p:nvSpPr>
          <p:spPr>
            <a:xfrm>
              <a:off x="2138" y="3760"/>
              <a:ext cx="116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ano e 5 mês</a:t>
              </a:r>
              <a:endParaRPr/>
            </a:p>
          </p:txBody>
        </p:sp>
        <p:sp>
          <p:nvSpPr>
            <p:cNvPr id="257" name="Google Shape;257;p26"/>
            <p:cNvSpPr txBox="1"/>
            <p:nvPr/>
          </p:nvSpPr>
          <p:spPr>
            <a:xfrm>
              <a:off x="288" y="3760"/>
              <a:ext cx="185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Tempo de retorno do investimento</a:t>
              </a:r>
              <a:endParaRPr/>
            </a:p>
          </p:txBody>
        </p:sp>
        <p:sp>
          <p:nvSpPr>
            <p:cNvPr id="258" name="Google Shape;258;p26"/>
            <p:cNvSpPr txBox="1"/>
            <p:nvPr/>
          </p:nvSpPr>
          <p:spPr>
            <a:xfrm>
              <a:off x="4432" y="3588"/>
              <a:ext cx="104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94%</a:t>
              </a:r>
              <a:endParaRPr/>
            </a:p>
          </p:txBody>
        </p:sp>
        <p:sp>
          <p:nvSpPr>
            <p:cNvPr id="259" name="Google Shape;259;p26"/>
            <p:cNvSpPr txBox="1"/>
            <p:nvPr/>
          </p:nvSpPr>
          <p:spPr>
            <a:xfrm>
              <a:off x="3300" y="3588"/>
              <a:ext cx="113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78%</a:t>
              </a:r>
              <a:endParaRPr/>
            </a:p>
          </p:txBody>
        </p:sp>
        <p:sp>
          <p:nvSpPr>
            <p:cNvPr id="260" name="Google Shape;260;p26"/>
            <p:cNvSpPr txBox="1"/>
            <p:nvPr/>
          </p:nvSpPr>
          <p:spPr>
            <a:xfrm>
              <a:off x="2138" y="3588"/>
              <a:ext cx="116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63%</a:t>
              </a:r>
              <a:endParaRPr/>
            </a:p>
          </p:txBody>
        </p:sp>
        <p:sp>
          <p:nvSpPr>
            <p:cNvPr id="261" name="Google Shape;261;p26"/>
            <p:cNvSpPr txBox="1"/>
            <p:nvPr/>
          </p:nvSpPr>
          <p:spPr>
            <a:xfrm>
              <a:off x="288" y="3588"/>
              <a:ext cx="185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Retorno de Investimento</a:t>
              </a:r>
              <a:endParaRPr/>
            </a:p>
          </p:txBody>
        </p:sp>
        <p:sp>
          <p:nvSpPr>
            <p:cNvPr id="262" name="Google Shape;262;p26"/>
            <p:cNvSpPr txBox="1"/>
            <p:nvPr/>
          </p:nvSpPr>
          <p:spPr>
            <a:xfrm>
              <a:off x="4432" y="3416"/>
              <a:ext cx="104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63" name="Google Shape;263;p26"/>
            <p:cNvSpPr txBox="1"/>
            <p:nvPr/>
          </p:nvSpPr>
          <p:spPr>
            <a:xfrm>
              <a:off x="3300" y="3416"/>
              <a:ext cx="113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64" name="Google Shape;264;p26"/>
            <p:cNvSpPr txBox="1"/>
            <p:nvPr/>
          </p:nvSpPr>
          <p:spPr>
            <a:xfrm>
              <a:off x="2138" y="3416"/>
              <a:ext cx="116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65" name="Google Shape;265;p26"/>
            <p:cNvSpPr txBox="1"/>
            <p:nvPr/>
          </p:nvSpPr>
          <p:spPr>
            <a:xfrm>
              <a:off x="288" y="3416"/>
              <a:ext cx="185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66" name="Google Shape;266;p26"/>
            <p:cNvSpPr txBox="1"/>
            <p:nvPr/>
          </p:nvSpPr>
          <p:spPr>
            <a:xfrm>
              <a:off x="4432" y="3244"/>
              <a:ext cx="1040" cy="17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34.005,25 </a:t>
              </a:r>
              <a:endParaRPr/>
            </a:p>
          </p:txBody>
        </p:sp>
        <p:sp>
          <p:nvSpPr>
            <p:cNvPr id="267" name="Google Shape;267;p26"/>
            <p:cNvSpPr txBox="1"/>
            <p:nvPr/>
          </p:nvSpPr>
          <p:spPr>
            <a:xfrm>
              <a:off x="3300" y="3244"/>
              <a:ext cx="1132" cy="17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28.337,71 </a:t>
              </a:r>
              <a:endParaRPr/>
            </a:p>
          </p:txBody>
        </p:sp>
        <p:sp>
          <p:nvSpPr>
            <p:cNvPr id="268" name="Google Shape;268;p26"/>
            <p:cNvSpPr txBox="1"/>
            <p:nvPr/>
          </p:nvSpPr>
          <p:spPr>
            <a:xfrm>
              <a:off x="2138" y="3244"/>
              <a:ext cx="1162" cy="17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 22.670,17 </a:t>
              </a:r>
              <a:endParaRPr/>
            </a:p>
          </p:txBody>
        </p:sp>
        <p:sp>
          <p:nvSpPr>
            <p:cNvPr id="269" name="Google Shape;269;p26"/>
            <p:cNvSpPr txBox="1"/>
            <p:nvPr/>
          </p:nvSpPr>
          <p:spPr>
            <a:xfrm>
              <a:off x="288" y="3244"/>
              <a:ext cx="1850" cy="17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Lucro Líquido</a:t>
              </a:r>
              <a:endParaRPr/>
            </a:p>
          </p:txBody>
        </p:sp>
        <p:sp>
          <p:nvSpPr>
            <p:cNvPr id="270" name="Google Shape;270;p26"/>
            <p:cNvSpPr txBox="1"/>
            <p:nvPr/>
          </p:nvSpPr>
          <p:spPr>
            <a:xfrm>
              <a:off x="4432" y="3072"/>
              <a:ext cx="104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71" name="Google Shape;271;p26"/>
            <p:cNvSpPr txBox="1"/>
            <p:nvPr/>
          </p:nvSpPr>
          <p:spPr>
            <a:xfrm>
              <a:off x="3300" y="3072"/>
              <a:ext cx="113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72" name="Google Shape;272;p26"/>
            <p:cNvSpPr txBox="1"/>
            <p:nvPr/>
          </p:nvSpPr>
          <p:spPr>
            <a:xfrm>
              <a:off x="2138" y="3072"/>
              <a:ext cx="116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73" name="Google Shape;273;p26"/>
            <p:cNvSpPr txBox="1"/>
            <p:nvPr/>
          </p:nvSpPr>
          <p:spPr>
            <a:xfrm>
              <a:off x="288" y="3072"/>
              <a:ext cx="185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74" name="Google Shape;274;p26"/>
            <p:cNvSpPr txBox="1"/>
            <p:nvPr/>
          </p:nvSpPr>
          <p:spPr>
            <a:xfrm>
              <a:off x="4432" y="2900"/>
              <a:ext cx="104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25.926,29 </a:t>
              </a:r>
              <a:endParaRPr/>
            </a:p>
          </p:txBody>
        </p:sp>
        <p:sp>
          <p:nvSpPr>
            <p:cNvPr id="275" name="Google Shape;275;p26"/>
            <p:cNvSpPr txBox="1"/>
            <p:nvPr/>
          </p:nvSpPr>
          <p:spPr>
            <a:xfrm>
              <a:off x="3300" y="2900"/>
              <a:ext cx="113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21.605,24 </a:t>
              </a:r>
              <a:endParaRPr/>
            </a:p>
          </p:txBody>
        </p:sp>
        <p:sp>
          <p:nvSpPr>
            <p:cNvPr id="276" name="Google Shape;276;p26"/>
            <p:cNvSpPr txBox="1"/>
            <p:nvPr/>
          </p:nvSpPr>
          <p:spPr>
            <a:xfrm>
              <a:off x="2138" y="2900"/>
              <a:ext cx="116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 17.284,19 </a:t>
              </a:r>
              <a:endParaRPr/>
            </a:p>
          </p:txBody>
        </p:sp>
        <p:sp>
          <p:nvSpPr>
            <p:cNvPr id="277" name="Google Shape;277;p26"/>
            <p:cNvSpPr txBox="1"/>
            <p:nvPr/>
          </p:nvSpPr>
          <p:spPr>
            <a:xfrm>
              <a:off x="288" y="2900"/>
              <a:ext cx="185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(-) CPV (custos fixos + variáveis)</a:t>
              </a:r>
              <a:endParaRPr/>
            </a:p>
          </p:txBody>
        </p:sp>
        <p:sp>
          <p:nvSpPr>
            <p:cNvPr id="278" name="Google Shape;278;p26"/>
            <p:cNvSpPr txBox="1"/>
            <p:nvPr/>
          </p:nvSpPr>
          <p:spPr>
            <a:xfrm>
              <a:off x="4432" y="2728"/>
              <a:ext cx="104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79" name="Google Shape;279;p26"/>
            <p:cNvSpPr txBox="1"/>
            <p:nvPr/>
          </p:nvSpPr>
          <p:spPr>
            <a:xfrm>
              <a:off x="3300" y="2728"/>
              <a:ext cx="113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80" name="Google Shape;280;p26"/>
            <p:cNvSpPr txBox="1"/>
            <p:nvPr/>
          </p:nvSpPr>
          <p:spPr>
            <a:xfrm>
              <a:off x="2138" y="2728"/>
              <a:ext cx="116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81" name="Google Shape;281;p26"/>
            <p:cNvSpPr txBox="1"/>
            <p:nvPr/>
          </p:nvSpPr>
          <p:spPr>
            <a:xfrm>
              <a:off x="288" y="2728"/>
              <a:ext cx="185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82" name="Google Shape;282;p26"/>
            <p:cNvSpPr txBox="1"/>
            <p:nvPr/>
          </p:nvSpPr>
          <p:spPr>
            <a:xfrm>
              <a:off x="4432" y="2556"/>
              <a:ext cx="104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18.603,30 </a:t>
              </a:r>
              <a:endParaRPr/>
            </a:p>
          </p:txBody>
        </p:sp>
        <p:sp>
          <p:nvSpPr>
            <p:cNvPr id="283" name="Google Shape;283;p26"/>
            <p:cNvSpPr txBox="1"/>
            <p:nvPr/>
          </p:nvSpPr>
          <p:spPr>
            <a:xfrm>
              <a:off x="3300" y="2556"/>
              <a:ext cx="113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15.502,75 </a:t>
              </a:r>
              <a:endParaRPr/>
            </a:p>
          </p:txBody>
        </p:sp>
        <p:sp>
          <p:nvSpPr>
            <p:cNvPr id="284" name="Google Shape;284;p26"/>
            <p:cNvSpPr txBox="1"/>
            <p:nvPr/>
          </p:nvSpPr>
          <p:spPr>
            <a:xfrm>
              <a:off x="2138" y="2556"/>
              <a:ext cx="116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 12.402,20 </a:t>
              </a:r>
              <a:endParaRPr/>
            </a:p>
          </p:txBody>
        </p:sp>
        <p:sp>
          <p:nvSpPr>
            <p:cNvPr id="285" name="Google Shape;285;p26"/>
            <p:cNvSpPr txBox="1"/>
            <p:nvPr/>
          </p:nvSpPr>
          <p:spPr>
            <a:xfrm>
              <a:off x="288" y="2556"/>
              <a:ext cx="185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Custos fixos</a:t>
              </a:r>
              <a:endParaRPr/>
            </a:p>
          </p:txBody>
        </p:sp>
        <p:sp>
          <p:nvSpPr>
            <p:cNvPr id="286" name="Google Shape;286;p26"/>
            <p:cNvSpPr txBox="1"/>
            <p:nvPr/>
          </p:nvSpPr>
          <p:spPr>
            <a:xfrm>
              <a:off x="4432" y="2384"/>
              <a:ext cx="104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8.612,75 </a:t>
              </a:r>
              <a:endParaRPr/>
            </a:p>
          </p:txBody>
        </p:sp>
        <p:sp>
          <p:nvSpPr>
            <p:cNvPr id="287" name="Google Shape;287;p26"/>
            <p:cNvSpPr txBox="1"/>
            <p:nvPr/>
          </p:nvSpPr>
          <p:spPr>
            <a:xfrm>
              <a:off x="3300" y="2384"/>
              <a:ext cx="113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 8.612,75 </a:t>
              </a:r>
              <a:endParaRPr/>
            </a:p>
          </p:txBody>
        </p:sp>
        <p:sp>
          <p:nvSpPr>
            <p:cNvPr id="288" name="Google Shape;288;p26"/>
            <p:cNvSpPr txBox="1"/>
            <p:nvPr/>
          </p:nvSpPr>
          <p:spPr>
            <a:xfrm>
              <a:off x="2138" y="2384"/>
              <a:ext cx="116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   8.612,75 </a:t>
              </a:r>
              <a:endParaRPr/>
            </a:p>
          </p:txBody>
        </p:sp>
        <p:sp>
          <p:nvSpPr>
            <p:cNvPr id="289" name="Google Shape;289;p26"/>
            <p:cNvSpPr txBox="1"/>
            <p:nvPr/>
          </p:nvSpPr>
          <p:spPr>
            <a:xfrm>
              <a:off x="288" y="2384"/>
              <a:ext cx="185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Mão de obra(salários)</a:t>
              </a:r>
              <a:endParaRPr/>
            </a:p>
          </p:txBody>
        </p:sp>
        <p:sp>
          <p:nvSpPr>
            <p:cNvPr id="290" name="Google Shape;290;p26"/>
            <p:cNvSpPr txBox="1"/>
            <p:nvPr/>
          </p:nvSpPr>
          <p:spPr>
            <a:xfrm>
              <a:off x="4432" y="2212"/>
              <a:ext cx="104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7.322,99 </a:t>
              </a:r>
              <a:endParaRPr/>
            </a:p>
          </p:txBody>
        </p:sp>
        <p:sp>
          <p:nvSpPr>
            <p:cNvPr id="291" name="Google Shape;291;p26"/>
            <p:cNvSpPr txBox="1"/>
            <p:nvPr/>
          </p:nvSpPr>
          <p:spPr>
            <a:xfrm>
              <a:off x="3300" y="2212"/>
              <a:ext cx="113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 6.102,49 </a:t>
              </a:r>
              <a:endParaRPr/>
            </a:p>
          </p:txBody>
        </p:sp>
        <p:sp>
          <p:nvSpPr>
            <p:cNvPr id="292" name="Google Shape;292;p26"/>
            <p:cNvSpPr txBox="1"/>
            <p:nvPr/>
          </p:nvSpPr>
          <p:spPr>
            <a:xfrm>
              <a:off x="2138" y="2212"/>
              <a:ext cx="116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   4.881,99 </a:t>
              </a:r>
              <a:endParaRPr/>
            </a:p>
          </p:txBody>
        </p:sp>
        <p:sp>
          <p:nvSpPr>
            <p:cNvPr id="293" name="Google Shape;293;p26"/>
            <p:cNvSpPr txBox="1"/>
            <p:nvPr/>
          </p:nvSpPr>
          <p:spPr>
            <a:xfrm>
              <a:off x="288" y="2212"/>
              <a:ext cx="185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Custos variáveis</a:t>
              </a:r>
              <a:endParaRPr/>
            </a:p>
          </p:txBody>
        </p:sp>
        <p:sp>
          <p:nvSpPr>
            <p:cNvPr id="294" name="Google Shape;294;p26"/>
            <p:cNvSpPr txBox="1"/>
            <p:nvPr/>
          </p:nvSpPr>
          <p:spPr>
            <a:xfrm>
              <a:off x="4432" y="2040"/>
              <a:ext cx="104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95" name="Google Shape;295;p26"/>
            <p:cNvSpPr txBox="1"/>
            <p:nvPr/>
          </p:nvSpPr>
          <p:spPr>
            <a:xfrm>
              <a:off x="3300" y="2040"/>
              <a:ext cx="113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96" name="Google Shape;296;p26"/>
            <p:cNvSpPr txBox="1"/>
            <p:nvPr/>
          </p:nvSpPr>
          <p:spPr>
            <a:xfrm>
              <a:off x="2138" y="2040"/>
              <a:ext cx="116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97" name="Google Shape;297;p26"/>
            <p:cNvSpPr txBox="1"/>
            <p:nvPr/>
          </p:nvSpPr>
          <p:spPr>
            <a:xfrm>
              <a:off x="288" y="2040"/>
              <a:ext cx="185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298" name="Google Shape;298;p26"/>
            <p:cNvSpPr txBox="1"/>
            <p:nvPr/>
          </p:nvSpPr>
          <p:spPr>
            <a:xfrm>
              <a:off x="4432" y="1868"/>
              <a:ext cx="1040" cy="17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59.931,54 </a:t>
              </a:r>
              <a:endParaRPr/>
            </a:p>
          </p:txBody>
        </p:sp>
        <p:sp>
          <p:nvSpPr>
            <p:cNvPr id="299" name="Google Shape;299;p26"/>
            <p:cNvSpPr txBox="1"/>
            <p:nvPr/>
          </p:nvSpPr>
          <p:spPr>
            <a:xfrm>
              <a:off x="3300" y="1868"/>
              <a:ext cx="1132" cy="17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49.942,95 </a:t>
              </a:r>
              <a:endParaRPr/>
            </a:p>
          </p:txBody>
        </p:sp>
        <p:sp>
          <p:nvSpPr>
            <p:cNvPr id="300" name="Google Shape;300;p26"/>
            <p:cNvSpPr txBox="1"/>
            <p:nvPr/>
          </p:nvSpPr>
          <p:spPr>
            <a:xfrm>
              <a:off x="2138" y="1868"/>
              <a:ext cx="1162" cy="17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 39.954,36 </a:t>
              </a:r>
              <a:endParaRPr/>
            </a:p>
          </p:txBody>
        </p:sp>
        <p:sp>
          <p:nvSpPr>
            <p:cNvPr id="301" name="Google Shape;301;p26"/>
            <p:cNvSpPr txBox="1"/>
            <p:nvPr/>
          </p:nvSpPr>
          <p:spPr>
            <a:xfrm>
              <a:off x="288" y="1868"/>
              <a:ext cx="1850" cy="17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Receita Liquída</a:t>
              </a:r>
              <a:endParaRPr/>
            </a:p>
          </p:txBody>
        </p:sp>
        <p:sp>
          <p:nvSpPr>
            <p:cNvPr id="302" name="Google Shape;302;p26"/>
            <p:cNvSpPr txBox="1"/>
            <p:nvPr/>
          </p:nvSpPr>
          <p:spPr>
            <a:xfrm>
              <a:off x="4432" y="1696"/>
              <a:ext cx="104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303" name="Google Shape;303;p26"/>
            <p:cNvSpPr txBox="1"/>
            <p:nvPr/>
          </p:nvSpPr>
          <p:spPr>
            <a:xfrm>
              <a:off x="3300" y="1696"/>
              <a:ext cx="113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304" name="Google Shape;304;p26"/>
            <p:cNvSpPr txBox="1"/>
            <p:nvPr/>
          </p:nvSpPr>
          <p:spPr>
            <a:xfrm>
              <a:off x="2138" y="1696"/>
              <a:ext cx="116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305" name="Google Shape;305;p26"/>
            <p:cNvSpPr txBox="1"/>
            <p:nvPr/>
          </p:nvSpPr>
          <p:spPr>
            <a:xfrm>
              <a:off x="288" y="1696"/>
              <a:ext cx="185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306" name="Google Shape;306;p26"/>
            <p:cNvSpPr txBox="1"/>
            <p:nvPr/>
          </p:nvSpPr>
          <p:spPr>
            <a:xfrm>
              <a:off x="4432" y="1524"/>
              <a:ext cx="104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5.768,46 </a:t>
              </a:r>
              <a:endParaRPr/>
            </a:p>
          </p:txBody>
        </p:sp>
        <p:sp>
          <p:nvSpPr>
            <p:cNvPr id="307" name="Google Shape;307;p26"/>
            <p:cNvSpPr txBox="1"/>
            <p:nvPr/>
          </p:nvSpPr>
          <p:spPr>
            <a:xfrm>
              <a:off x="3300" y="1524"/>
              <a:ext cx="113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 4.807,05 </a:t>
              </a:r>
              <a:endParaRPr/>
            </a:p>
          </p:txBody>
        </p:sp>
        <p:sp>
          <p:nvSpPr>
            <p:cNvPr id="308" name="Google Shape;308;p26"/>
            <p:cNvSpPr txBox="1"/>
            <p:nvPr/>
          </p:nvSpPr>
          <p:spPr>
            <a:xfrm>
              <a:off x="2138" y="1524"/>
              <a:ext cx="116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   3.845,64 </a:t>
              </a:r>
              <a:endParaRPr/>
            </a:p>
          </p:txBody>
        </p:sp>
        <p:sp>
          <p:nvSpPr>
            <p:cNvPr id="309" name="Google Shape;309;p26"/>
            <p:cNvSpPr txBox="1"/>
            <p:nvPr/>
          </p:nvSpPr>
          <p:spPr>
            <a:xfrm>
              <a:off x="288" y="1524"/>
              <a:ext cx="185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(-) Impostos</a:t>
              </a:r>
              <a:endParaRPr/>
            </a:p>
          </p:txBody>
        </p:sp>
        <p:sp>
          <p:nvSpPr>
            <p:cNvPr id="310" name="Google Shape;310;p26"/>
            <p:cNvSpPr txBox="1"/>
            <p:nvPr/>
          </p:nvSpPr>
          <p:spPr>
            <a:xfrm>
              <a:off x="4432" y="1352"/>
              <a:ext cx="104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65.700,00 </a:t>
              </a:r>
              <a:endParaRPr/>
            </a:p>
          </p:txBody>
        </p:sp>
        <p:sp>
          <p:nvSpPr>
            <p:cNvPr id="311" name="Google Shape;311;p26"/>
            <p:cNvSpPr txBox="1"/>
            <p:nvPr/>
          </p:nvSpPr>
          <p:spPr>
            <a:xfrm>
              <a:off x="3300" y="1352"/>
              <a:ext cx="113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54.750,00 </a:t>
              </a:r>
              <a:endParaRPr/>
            </a:p>
          </p:txBody>
        </p:sp>
        <p:sp>
          <p:nvSpPr>
            <p:cNvPr id="312" name="Google Shape;312;p26"/>
            <p:cNvSpPr txBox="1"/>
            <p:nvPr/>
          </p:nvSpPr>
          <p:spPr>
            <a:xfrm>
              <a:off x="2138" y="1352"/>
              <a:ext cx="116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R$          43.800,00 </a:t>
              </a:r>
              <a:endParaRPr/>
            </a:p>
          </p:txBody>
        </p:sp>
        <p:sp>
          <p:nvSpPr>
            <p:cNvPr id="313" name="Google Shape;313;p26"/>
            <p:cNvSpPr txBox="1"/>
            <p:nvPr/>
          </p:nvSpPr>
          <p:spPr>
            <a:xfrm>
              <a:off x="288" y="1352"/>
              <a:ext cx="185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Receita Bruta</a:t>
              </a:r>
              <a:endParaRPr/>
            </a:p>
          </p:txBody>
        </p:sp>
        <p:sp>
          <p:nvSpPr>
            <p:cNvPr id="314" name="Google Shape;314;p26"/>
            <p:cNvSpPr txBox="1"/>
            <p:nvPr/>
          </p:nvSpPr>
          <p:spPr>
            <a:xfrm>
              <a:off x="4432" y="1180"/>
              <a:ext cx="104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Otimista </a:t>
              </a:r>
              <a:endParaRPr/>
            </a:p>
          </p:txBody>
        </p:sp>
        <p:sp>
          <p:nvSpPr>
            <p:cNvPr id="315" name="Google Shape;315;p26"/>
            <p:cNvSpPr txBox="1"/>
            <p:nvPr/>
          </p:nvSpPr>
          <p:spPr>
            <a:xfrm>
              <a:off x="3300" y="1180"/>
              <a:ext cx="113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Realista </a:t>
              </a:r>
              <a:endParaRPr/>
            </a:p>
          </p:txBody>
        </p:sp>
        <p:sp>
          <p:nvSpPr>
            <p:cNvPr id="316" name="Google Shape;316;p26"/>
            <p:cNvSpPr txBox="1"/>
            <p:nvPr/>
          </p:nvSpPr>
          <p:spPr>
            <a:xfrm>
              <a:off x="2138" y="1180"/>
              <a:ext cx="1162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Pessimista </a:t>
              </a:r>
              <a:endParaRPr/>
            </a:p>
          </p:txBody>
        </p:sp>
        <p:sp>
          <p:nvSpPr>
            <p:cNvPr id="317" name="Google Shape;317;p26"/>
            <p:cNvSpPr txBox="1"/>
            <p:nvPr/>
          </p:nvSpPr>
          <p:spPr>
            <a:xfrm>
              <a:off x="288" y="1180"/>
              <a:ext cx="1850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Descrição</a:t>
              </a:r>
              <a:endParaRPr/>
            </a:p>
          </p:txBody>
        </p:sp>
        <p:sp>
          <p:nvSpPr>
            <p:cNvPr id="318" name="Google Shape;318;p26"/>
            <p:cNvSpPr txBox="1"/>
            <p:nvPr/>
          </p:nvSpPr>
          <p:spPr>
            <a:xfrm>
              <a:off x="288" y="1008"/>
              <a:ext cx="5184" cy="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DEMONSTRATIVO DE RESULTADO EM TRES PROJEÇÕES</a:t>
              </a:r>
              <a:endParaRPr/>
            </a:p>
          </p:txBody>
        </p:sp>
        <p:cxnSp>
          <p:nvCxnSpPr>
            <p:cNvPr id="319" name="Google Shape;319;p26"/>
            <p:cNvCxnSpPr/>
            <p:nvPr/>
          </p:nvCxnSpPr>
          <p:spPr>
            <a:xfrm>
              <a:off x="288" y="1008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20" name="Google Shape;320;p26"/>
            <p:cNvCxnSpPr/>
            <p:nvPr/>
          </p:nvCxnSpPr>
          <p:spPr>
            <a:xfrm>
              <a:off x="288" y="3932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21" name="Google Shape;321;p26"/>
            <p:cNvCxnSpPr/>
            <p:nvPr/>
          </p:nvCxnSpPr>
          <p:spPr>
            <a:xfrm>
              <a:off x="288" y="1008"/>
              <a:ext cx="0" cy="2924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22" name="Google Shape;322;p26"/>
            <p:cNvCxnSpPr/>
            <p:nvPr/>
          </p:nvCxnSpPr>
          <p:spPr>
            <a:xfrm>
              <a:off x="5472" y="1008"/>
              <a:ext cx="0" cy="2924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23" name="Google Shape;323;p26"/>
            <p:cNvCxnSpPr/>
            <p:nvPr/>
          </p:nvCxnSpPr>
          <p:spPr>
            <a:xfrm>
              <a:off x="288" y="1180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24" name="Google Shape;324;p26"/>
            <p:cNvCxnSpPr/>
            <p:nvPr/>
          </p:nvCxnSpPr>
          <p:spPr>
            <a:xfrm>
              <a:off x="288" y="1352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25" name="Google Shape;325;p26"/>
            <p:cNvCxnSpPr/>
            <p:nvPr/>
          </p:nvCxnSpPr>
          <p:spPr>
            <a:xfrm>
              <a:off x="2138" y="1180"/>
              <a:ext cx="0" cy="2752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26" name="Google Shape;326;p26"/>
            <p:cNvCxnSpPr/>
            <p:nvPr/>
          </p:nvCxnSpPr>
          <p:spPr>
            <a:xfrm>
              <a:off x="3300" y="1180"/>
              <a:ext cx="0" cy="2752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27" name="Google Shape;327;p26"/>
            <p:cNvCxnSpPr/>
            <p:nvPr/>
          </p:nvCxnSpPr>
          <p:spPr>
            <a:xfrm>
              <a:off x="4432" y="1180"/>
              <a:ext cx="0" cy="2752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28" name="Google Shape;328;p26"/>
            <p:cNvCxnSpPr/>
            <p:nvPr/>
          </p:nvCxnSpPr>
          <p:spPr>
            <a:xfrm>
              <a:off x="288" y="1524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29" name="Google Shape;329;p26"/>
            <p:cNvCxnSpPr/>
            <p:nvPr/>
          </p:nvCxnSpPr>
          <p:spPr>
            <a:xfrm>
              <a:off x="288" y="1696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30" name="Google Shape;330;p26"/>
            <p:cNvCxnSpPr/>
            <p:nvPr/>
          </p:nvCxnSpPr>
          <p:spPr>
            <a:xfrm>
              <a:off x="288" y="1868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31" name="Google Shape;331;p26"/>
            <p:cNvCxnSpPr/>
            <p:nvPr/>
          </p:nvCxnSpPr>
          <p:spPr>
            <a:xfrm>
              <a:off x="288" y="2040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32" name="Google Shape;332;p26"/>
            <p:cNvCxnSpPr/>
            <p:nvPr/>
          </p:nvCxnSpPr>
          <p:spPr>
            <a:xfrm>
              <a:off x="288" y="2212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33" name="Google Shape;333;p26"/>
            <p:cNvCxnSpPr/>
            <p:nvPr/>
          </p:nvCxnSpPr>
          <p:spPr>
            <a:xfrm>
              <a:off x="288" y="2384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34" name="Google Shape;334;p26"/>
            <p:cNvCxnSpPr/>
            <p:nvPr/>
          </p:nvCxnSpPr>
          <p:spPr>
            <a:xfrm>
              <a:off x="288" y="2556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35" name="Google Shape;335;p26"/>
            <p:cNvCxnSpPr/>
            <p:nvPr/>
          </p:nvCxnSpPr>
          <p:spPr>
            <a:xfrm>
              <a:off x="288" y="2728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36" name="Google Shape;336;p26"/>
            <p:cNvCxnSpPr/>
            <p:nvPr/>
          </p:nvCxnSpPr>
          <p:spPr>
            <a:xfrm>
              <a:off x="288" y="2900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37" name="Google Shape;337;p26"/>
            <p:cNvCxnSpPr/>
            <p:nvPr/>
          </p:nvCxnSpPr>
          <p:spPr>
            <a:xfrm>
              <a:off x="288" y="3072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38" name="Google Shape;338;p26"/>
            <p:cNvCxnSpPr/>
            <p:nvPr/>
          </p:nvCxnSpPr>
          <p:spPr>
            <a:xfrm>
              <a:off x="288" y="3244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39" name="Google Shape;339;p26"/>
            <p:cNvCxnSpPr/>
            <p:nvPr/>
          </p:nvCxnSpPr>
          <p:spPr>
            <a:xfrm>
              <a:off x="288" y="3416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40" name="Google Shape;340;p26"/>
            <p:cNvCxnSpPr/>
            <p:nvPr/>
          </p:nvCxnSpPr>
          <p:spPr>
            <a:xfrm>
              <a:off x="288" y="3588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41" name="Google Shape;341;p26"/>
            <p:cNvCxnSpPr/>
            <p:nvPr/>
          </p:nvCxnSpPr>
          <p:spPr>
            <a:xfrm>
              <a:off x="288" y="3760"/>
              <a:ext cx="5184" cy="0"/>
            </a:xfrm>
            <a:prstGeom prst="straightConnector1">
              <a:avLst/>
            </a:prstGeom>
            <a:noFill/>
            <a:ln cap="rnd" cmpd="sng" w="12700">
              <a:solidFill>
                <a:srgbClr val="000000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b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348" name="Google Shape;348;p27"/>
          <p:cNvSpPr txBox="1"/>
          <p:nvPr>
            <p:ph idx="1" type="subTitle"/>
          </p:nvPr>
        </p:nvSpPr>
        <p:spPr>
          <a:xfrm>
            <a:off x="1476375" y="479742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 OBRIGADA!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sign padrão">
  <a:themeElements>
    <a:clrScheme name="Design padrão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